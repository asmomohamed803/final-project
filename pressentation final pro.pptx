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70" r:id="rId4"/>
    <p:sldId id="271" r:id="rId5"/>
    <p:sldId id="262" r:id="rId6"/>
    <p:sldId id="272" r:id="rId7"/>
    <p:sldId id="265" r:id="rId8"/>
    <p:sldId id="266" r:id="rId9"/>
    <p:sldId id="273" r:id="rId10"/>
    <p:sldId id="274" r:id="rId11"/>
    <p:sldId id="275" r:id="rId12"/>
    <p:sldId id="276" r:id="rId13"/>
    <p:sldId id="277" r:id="rId14"/>
    <p:sldId id="263" r:id="rId15"/>
    <p:sldId id="280" r:id="rId16"/>
    <p:sldId id="27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A72B-0808-7138-153D-C865EC1775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8298D3-4C0F-8C05-8A5B-79A4191EC2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89E460-9CD8-D523-5A68-C70F7475A18F}"/>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5" name="Footer Placeholder 4">
            <a:extLst>
              <a:ext uri="{FF2B5EF4-FFF2-40B4-BE49-F238E27FC236}">
                <a16:creationId xmlns:a16="http://schemas.microsoft.com/office/drawing/2014/main" id="{5E5D9681-13D5-616F-6D1D-B3EBE1E0AC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D1E35-FE1C-C36C-D628-AECB1DF3936C}"/>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3004498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6F5D-F17A-CBE2-6221-F7F2C6F2F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1B9AE2-1698-EA3C-E5E6-DEA695C292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DE7053-3892-FEE0-DB68-14D8B7C89B9E}"/>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5" name="Footer Placeholder 4">
            <a:extLst>
              <a:ext uri="{FF2B5EF4-FFF2-40B4-BE49-F238E27FC236}">
                <a16:creationId xmlns:a16="http://schemas.microsoft.com/office/drawing/2014/main" id="{512899DC-EAEA-99D5-16F8-AC3952A3A4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AAE201-7833-5D64-D455-F3F8A3292233}"/>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3706672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A599-D0F2-DA5F-2379-8EC99C57CD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8706ED-E6B6-0EC6-A784-0FA2356B85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635E49-C4C6-FA37-9684-CA34ADE8B938}"/>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5" name="Footer Placeholder 4">
            <a:extLst>
              <a:ext uri="{FF2B5EF4-FFF2-40B4-BE49-F238E27FC236}">
                <a16:creationId xmlns:a16="http://schemas.microsoft.com/office/drawing/2014/main" id="{18273C6E-515F-326A-8EC3-7C9E572732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CC0C11-F289-76F6-B669-A8FAEBED8FB1}"/>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92612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88786-D6CD-E39A-6984-B773A47B44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A66404-D3E5-20EB-C705-EE5BFDFA9D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532452-43B7-B10E-656A-9CFA5296E6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FF6340-56D2-76B7-1113-823ABD8E344C}"/>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6" name="Footer Placeholder 5">
            <a:extLst>
              <a:ext uri="{FF2B5EF4-FFF2-40B4-BE49-F238E27FC236}">
                <a16:creationId xmlns:a16="http://schemas.microsoft.com/office/drawing/2014/main" id="{26A8104D-248D-F618-2951-57071FEA7E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93F86C-4294-F55D-45ED-DA8663E1D331}"/>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3048689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C0432-22BB-936C-7E01-320362AA8B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A63092-C4CC-D43E-EBDA-6B1013BBD0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0E98E8-EECB-DF52-7C96-AF06BEFB97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3003A5-8292-A8B1-5657-225B0A9866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1CA908-1F34-BE80-DAE7-FBA66CBB4B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C0DE68-0EB6-B719-D068-271AFB96DF52}"/>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8" name="Footer Placeholder 7">
            <a:extLst>
              <a:ext uri="{FF2B5EF4-FFF2-40B4-BE49-F238E27FC236}">
                <a16:creationId xmlns:a16="http://schemas.microsoft.com/office/drawing/2014/main" id="{E490CC44-89FC-42CF-BE2D-54BA152BEC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9F68ED-BB79-AB3D-2B2E-A43E2B9E21CE}"/>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3773733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15360-37BA-2787-0B51-3543E482C8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6F983A-53AB-A40A-230B-AC8AFABB234E}"/>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4" name="Footer Placeholder 3">
            <a:extLst>
              <a:ext uri="{FF2B5EF4-FFF2-40B4-BE49-F238E27FC236}">
                <a16:creationId xmlns:a16="http://schemas.microsoft.com/office/drawing/2014/main" id="{D64AD683-C2CF-4CD2-3CC9-8333445476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57F735-2E25-C5C6-3B5B-268D466C4383}"/>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1964364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D72571-F97B-301D-1DCD-6AC2A1E30E2C}"/>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3" name="Footer Placeholder 2">
            <a:extLst>
              <a:ext uri="{FF2B5EF4-FFF2-40B4-BE49-F238E27FC236}">
                <a16:creationId xmlns:a16="http://schemas.microsoft.com/office/drawing/2014/main" id="{88EC25D0-120E-D113-DE34-1E968FC729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956916-4386-2315-B7EA-6F65C556E6C5}"/>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3375231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C5157-61C3-CD5E-809F-0CDDF327C6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061494-8A20-7D43-C61C-C2E926FD9A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772E17-EAAF-BD6B-ED1F-A822640DDE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B97D97-D333-A88D-3A34-5B00A2DFFAC3}"/>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6" name="Footer Placeholder 5">
            <a:extLst>
              <a:ext uri="{FF2B5EF4-FFF2-40B4-BE49-F238E27FC236}">
                <a16:creationId xmlns:a16="http://schemas.microsoft.com/office/drawing/2014/main" id="{51A41419-8233-BF94-97B6-4AE09B24A1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60D02B-1AF3-E7E1-FCC7-02D3AC32EA07}"/>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2359675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E2760-4C1D-5F8B-F7B2-25D5C8DE28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42893E-4457-C481-4599-B8397F7786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703609-9DBA-AF6C-B5B2-C3E2F4382E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635ADE-70B7-0E27-4076-51359A13E12D}"/>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6" name="Footer Placeholder 5">
            <a:extLst>
              <a:ext uri="{FF2B5EF4-FFF2-40B4-BE49-F238E27FC236}">
                <a16:creationId xmlns:a16="http://schemas.microsoft.com/office/drawing/2014/main" id="{C49849EE-F691-4D21-4CB1-FB954234FD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14409-3DDE-A4AB-7257-011EED9CA0DC}"/>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1005416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1CD95-4CED-EDE7-F46F-BF9C1E9EE5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3A779E-C976-0F49-5AAC-A5A19793E6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781E65-0E9A-3F3E-76EC-F4CDF70AE87F}"/>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5" name="Footer Placeholder 4">
            <a:extLst>
              <a:ext uri="{FF2B5EF4-FFF2-40B4-BE49-F238E27FC236}">
                <a16:creationId xmlns:a16="http://schemas.microsoft.com/office/drawing/2014/main" id="{2A769529-94A2-0B0D-1ECC-9D8FC8C96B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17FE83-9BCB-719C-3322-FE244A220684}"/>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1576080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D261A4-7539-9919-99EF-341849569A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15DB4F-9E03-FFF9-0ED9-B2A4126FD2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8BB96D-577D-B0E2-637A-080A8572DFB0}"/>
              </a:ext>
            </a:extLst>
          </p:cNvPr>
          <p:cNvSpPr>
            <a:spLocks noGrp="1"/>
          </p:cNvSpPr>
          <p:nvPr>
            <p:ph type="dt" sz="half" idx="10"/>
          </p:nvPr>
        </p:nvSpPr>
        <p:spPr/>
        <p:txBody>
          <a:bodyPr/>
          <a:lstStyle/>
          <a:p>
            <a:fld id="{5E15B72A-D953-4703-BA0B-7B2881C88ED5}" type="datetimeFigureOut">
              <a:rPr lang="en-US" smtClean="0"/>
              <a:t>4/29/2026</a:t>
            </a:fld>
            <a:endParaRPr lang="en-US"/>
          </a:p>
        </p:txBody>
      </p:sp>
      <p:sp>
        <p:nvSpPr>
          <p:cNvPr id="5" name="Footer Placeholder 4">
            <a:extLst>
              <a:ext uri="{FF2B5EF4-FFF2-40B4-BE49-F238E27FC236}">
                <a16:creationId xmlns:a16="http://schemas.microsoft.com/office/drawing/2014/main" id="{885E9D35-FF88-E76B-4674-4CEE55D1A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170B7E-C447-7A64-F933-09BBE224B7E3}"/>
              </a:ext>
            </a:extLst>
          </p:cNvPr>
          <p:cNvSpPr>
            <a:spLocks noGrp="1"/>
          </p:cNvSpPr>
          <p:nvPr>
            <p:ph type="sldNum" sz="quarter" idx="12"/>
          </p:nvPr>
        </p:nvSpPr>
        <p:spPr/>
        <p:txBody>
          <a:bodyPr/>
          <a:lstStyle/>
          <a:p>
            <a:fld id="{E053F992-98FA-4C47-893B-12CC3B1B46FE}" type="slidenum">
              <a:rPr lang="en-US" smtClean="0"/>
              <a:t>‹#›</a:t>
            </a:fld>
            <a:endParaRPr lang="en-US"/>
          </a:p>
        </p:txBody>
      </p:sp>
    </p:spTree>
    <p:extLst>
      <p:ext uri="{BB962C8B-B14F-4D97-AF65-F5344CB8AC3E}">
        <p14:creationId xmlns:p14="http://schemas.microsoft.com/office/powerpoint/2010/main" val="618255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2C5611-94B7-9543-DDA9-805ACC0C77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3281F8-2F11-25DA-3B44-4000C571D3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B5EC4-FC6F-1FBC-FE5B-8191D84AEE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15B72A-D953-4703-BA0B-7B2881C88ED5}" type="datetimeFigureOut">
              <a:rPr lang="en-US" smtClean="0"/>
              <a:t>4/29/2026</a:t>
            </a:fld>
            <a:endParaRPr lang="en-US"/>
          </a:p>
        </p:txBody>
      </p:sp>
      <p:sp>
        <p:nvSpPr>
          <p:cNvPr id="5" name="Footer Placeholder 4">
            <a:extLst>
              <a:ext uri="{FF2B5EF4-FFF2-40B4-BE49-F238E27FC236}">
                <a16:creationId xmlns:a16="http://schemas.microsoft.com/office/drawing/2014/main" id="{579243D8-E3E6-5574-30F2-2A3DDF6DDD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DA3409-ED1D-5C16-DABD-9C3A334AF3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53F992-98FA-4C47-893B-12CC3B1B46FE}" type="slidenum">
              <a:rPr lang="en-US" smtClean="0"/>
              <a:t>‹#›</a:t>
            </a:fld>
            <a:endParaRPr lang="en-US"/>
          </a:p>
        </p:txBody>
      </p:sp>
    </p:spTree>
    <p:extLst>
      <p:ext uri="{BB962C8B-B14F-4D97-AF65-F5344CB8AC3E}">
        <p14:creationId xmlns:p14="http://schemas.microsoft.com/office/powerpoint/2010/main" val="3961440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2" name="Group 31">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33" name="Freeform: Shape 32">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39" name="Freeform: Shape 38">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Shape 40">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28DD439-2539-F862-ECAA-C665AF704CEE}"/>
              </a:ext>
            </a:extLst>
          </p:cNvPr>
          <p:cNvSpPr>
            <a:spLocks noGrp="1"/>
          </p:cNvSpPr>
          <p:nvPr>
            <p:ph type="ctrTitle"/>
          </p:nvPr>
        </p:nvSpPr>
        <p:spPr>
          <a:xfrm>
            <a:off x="804672" y="1055098"/>
            <a:ext cx="5760719" cy="4747805"/>
          </a:xfrm>
        </p:spPr>
        <p:txBody>
          <a:bodyPr anchor="ctr">
            <a:normAutofit/>
          </a:bodyPr>
          <a:lstStyle/>
          <a:p>
            <a:pPr algn="l"/>
            <a:r>
              <a:rPr lang="en-US" sz="4000">
                <a:solidFill>
                  <a:schemeClr val="tx2"/>
                </a:solidFill>
              </a:rPr>
              <a:t>Predictive Modeling of Public Procurement Contract Values in Uganda  </a:t>
            </a:r>
          </a:p>
        </p:txBody>
      </p:sp>
      <p:sp>
        <p:nvSpPr>
          <p:cNvPr id="3" name="Subtitle 2">
            <a:extLst>
              <a:ext uri="{FF2B5EF4-FFF2-40B4-BE49-F238E27FC236}">
                <a16:creationId xmlns:a16="http://schemas.microsoft.com/office/drawing/2014/main" id="{41112696-CBF6-9BCF-CD85-4508E06251C6}"/>
              </a:ext>
            </a:extLst>
          </p:cNvPr>
          <p:cNvSpPr>
            <a:spLocks noGrp="1"/>
          </p:cNvSpPr>
          <p:nvPr>
            <p:ph type="subTitle" idx="1"/>
          </p:nvPr>
        </p:nvSpPr>
        <p:spPr>
          <a:xfrm>
            <a:off x="8011887" y="1638300"/>
            <a:ext cx="3661002" cy="3581400"/>
          </a:xfrm>
        </p:spPr>
        <p:txBody>
          <a:bodyPr anchor="ctr">
            <a:normAutofit/>
          </a:bodyPr>
          <a:lstStyle/>
          <a:p>
            <a:pPr algn="l"/>
            <a:r>
              <a:rPr lang="en-US" b="1" dirty="0">
                <a:solidFill>
                  <a:schemeClr val="tx2"/>
                </a:solidFill>
              </a:rPr>
              <a:t>By :Amal Abdirahman Mohamed</a:t>
            </a:r>
          </a:p>
          <a:p>
            <a:pPr algn="l"/>
            <a:endParaRPr lang="en-US" dirty="0">
              <a:solidFill>
                <a:schemeClr val="tx2"/>
              </a:solidFill>
            </a:endParaRPr>
          </a:p>
          <a:p>
            <a:pPr algn="l"/>
            <a:r>
              <a:rPr lang="en-US" sz="2800" b="1" dirty="0">
                <a:solidFill>
                  <a:schemeClr val="tx2"/>
                </a:solidFill>
              </a:rPr>
              <a:t>30.April.2026</a:t>
            </a:r>
          </a:p>
        </p:txBody>
      </p:sp>
    </p:spTree>
    <p:extLst>
      <p:ext uri="{BB962C8B-B14F-4D97-AF65-F5344CB8AC3E}">
        <p14:creationId xmlns:p14="http://schemas.microsoft.com/office/powerpoint/2010/main" val="35223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6579269-DEA8-6F60-09C4-7A034706153C}"/>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Problem Statement</a:t>
            </a:r>
          </a:p>
        </p:txBody>
      </p:sp>
      <p:sp>
        <p:nvSpPr>
          <p:cNvPr id="3" name="Content Placeholder 2">
            <a:extLst>
              <a:ext uri="{FF2B5EF4-FFF2-40B4-BE49-F238E27FC236}">
                <a16:creationId xmlns:a16="http://schemas.microsoft.com/office/drawing/2014/main" id="{AA383790-9A12-224D-156F-3BD52AE67380}"/>
              </a:ext>
            </a:extLst>
          </p:cNvPr>
          <p:cNvSpPr>
            <a:spLocks noGrp="1"/>
          </p:cNvSpPr>
          <p:nvPr>
            <p:ph idx="1"/>
          </p:nvPr>
        </p:nvSpPr>
        <p:spPr>
          <a:xfrm>
            <a:off x="6172200" y="804672"/>
            <a:ext cx="5221224" cy="5230368"/>
          </a:xfrm>
        </p:spPr>
        <p:txBody>
          <a:bodyPr anchor="ctr">
            <a:normAutofit/>
          </a:bodyPr>
          <a:lstStyle/>
          <a:p>
            <a:pPr marL="514350" indent="-514350">
              <a:buFont typeface="+mj-lt"/>
              <a:buAutoNum type="romanUcPeriod"/>
            </a:pPr>
            <a:r>
              <a:rPr lang="en-US" sz="1800" b="1">
                <a:solidFill>
                  <a:schemeClr val="tx2"/>
                </a:solidFill>
              </a:rPr>
              <a:t> The Issue: </a:t>
            </a:r>
            <a:r>
              <a:rPr lang="en-US" sz="1800">
                <a:solidFill>
                  <a:schemeClr val="tx2"/>
                </a:solidFill>
              </a:rPr>
              <a:t>Public procurement in Uganda often lacks automated financial oversight, making it difficult to detect when a government tender is overpriced or fraudulent.  </a:t>
            </a:r>
          </a:p>
          <a:p>
            <a:pPr marL="514350" indent="-514350">
              <a:buFont typeface="+mj-lt"/>
              <a:buAutoNum type="romanUcPeriod"/>
            </a:pPr>
            <a:endParaRPr lang="en-US" sz="1800">
              <a:solidFill>
                <a:schemeClr val="tx2"/>
              </a:solidFill>
            </a:endParaRPr>
          </a:p>
          <a:p>
            <a:pPr marL="514350" indent="-514350">
              <a:buFont typeface="+mj-lt"/>
              <a:buAutoNum type="romanUcPeriod"/>
            </a:pPr>
            <a:r>
              <a:rPr lang="en-US" sz="1800" b="1">
                <a:solidFill>
                  <a:schemeClr val="tx2"/>
                </a:solidFill>
              </a:rPr>
              <a:t>Manual Limitations:</a:t>
            </a:r>
            <a:r>
              <a:rPr lang="en-US" sz="1800">
                <a:solidFill>
                  <a:schemeClr val="tx2"/>
                </a:solidFill>
              </a:rPr>
              <a:t> Auditing thousands of records from different government bodies is slow and prone to human error.  </a:t>
            </a:r>
          </a:p>
          <a:p>
            <a:pPr marL="514350" indent="-514350">
              <a:buFont typeface="+mj-lt"/>
              <a:buAutoNum type="romanUcPeriod"/>
            </a:pPr>
            <a:endParaRPr lang="en-US" sz="1800">
              <a:solidFill>
                <a:schemeClr val="tx2"/>
              </a:solidFill>
            </a:endParaRPr>
          </a:p>
          <a:p>
            <a:pPr marL="514350" indent="-514350">
              <a:buFont typeface="+mj-lt"/>
              <a:buAutoNum type="romanUcPeriod"/>
            </a:pPr>
            <a:r>
              <a:rPr lang="en-US" sz="1800" b="1">
                <a:solidFill>
                  <a:schemeClr val="tx2"/>
                </a:solidFill>
              </a:rPr>
              <a:t>Financial Risk: </a:t>
            </a:r>
            <a:r>
              <a:rPr lang="en-US" sz="1800">
                <a:solidFill>
                  <a:schemeClr val="tx2"/>
                </a:solidFill>
              </a:rPr>
              <a:t>Without a data-driven benchmark, public funds can be lost through over-spending on "Works" or "Supplies" contracts.</a:t>
            </a:r>
          </a:p>
        </p:txBody>
      </p:sp>
    </p:spTree>
    <p:extLst>
      <p:ext uri="{BB962C8B-B14F-4D97-AF65-F5344CB8AC3E}">
        <p14:creationId xmlns:p14="http://schemas.microsoft.com/office/powerpoint/2010/main" val="3725035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032A5C-A15A-2ED4-1CF0-E94A9F4E6F53}"/>
              </a:ext>
            </a:extLst>
          </p:cNvPr>
          <p:cNvSpPr>
            <a:spLocks noGrp="1"/>
          </p:cNvSpPr>
          <p:nvPr>
            <p:ph type="title"/>
          </p:nvPr>
        </p:nvSpPr>
        <p:spPr>
          <a:xfrm>
            <a:off x="6094105" y="802955"/>
            <a:ext cx="4977976" cy="1454051"/>
          </a:xfrm>
        </p:spPr>
        <p:txBody>
          <a:bodyPr>
            <a:normAutofit/>
          </a:bodyPr>
          <a:lstStyle/>
          <a:p>
            <a:r>
              <a:rPr lang="en-US" sz="3300" dirty="0">
                <a:solidFill>
                  <a:schemeClr val="tx2"/>
                </a:solidFill>
              </a:rPr>
              <a:t>: </a:t>
            </a:r>
            <a:r>
              <a:rPr lang="en-US" sz="3300" b="1" dirty="0">
                <a:solidFill>
                  <a:schemeClr val="tx2"/>
                </a:solidFill>
              </a:rPr>
              <a:t>Project Goals &amp; Solution</a:t>
            </a:r>
            <a:br>
              <a:rPr lang="en-US" sz="3300" b="1" dirty="0">
                <a:solidFill>
                  <a:schemeClr val="tx2"/>
                </a:solidFill>
              </a:rPr>
            </a:br>
            <a:endParaRPr lang="en-US" sz="3300" b="1" dirty="0">
              <a:solidFill>
                <a:schemeClr val="tx2"/>
              </a:solidFill>
            </a:endParaRPr>
          </a:p>
        </p:txBody>
      </p:sp>
      <p:pic>
        <p:nvPicPr>
          <p:cNvPr id="7" name="Graphic 6" descr="Bullseye">
            <a:extLst>
              <a:ext uri="{FF2B5EF4-FFF2-40B4-BE49-F238E27FC236}">
                <a16:creationId xmlns:a16="http://schemas.microsoft.com/office/drawing/2014/main" id="{53099166-332D-84A7-0512-BD66D8C277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ECCBABB7-AF91-D14F-3282-29C21C77AE4C}"/>
              </a:ext>
            </a:extLst>
          </p:cNvPr>
          <p:cNvSpPr>
            <a:spLocks noGrp="1"/>
          </p:cNvSpPr>
          <p:nvPr>
            <p:ph idx="1"/>
          </p:nvPr>
        </p:nvSpPr>
        <p:spPr>
          <a:xfrm>
            <a:off x="6090574" y="2421682"/>
            <a:ext cx="4977578" cy="3639289"/>
          </a:xfrm>
        </p:spPr>
        <p:txBody>
          <a:bodyPr anchor="ctr">
            <a:normAutofit lnSpcReduction="10000"/>
          </a:bodyPr>
          <a:lstStyle/>
          <a:p>
            <a:pPr marL="400050" indent="-400050">
              <a:lnSpc>
                <a:spcPct val="150000"/>
              </a:lnSpc>
              <a:buFont typeface="+mj-lt"/>
              <a:buAutoNum type="romanLcPeriod"/>
            </a:pPr>
            <a:r>
              <a:rPr lang="en-US" sz="1500" b="1" dirty="0">
                <a:solidFill>
                  <a:schemeClr val="tx2"/>
                </a:solidFill>
              </a:rPr>
              <a:t>The Primary Goal</a:t>
            </a:r>
            <a:r>
              <a:rPr lang="en-US" sz="1500" dirty="0">
                <a:solidFill>
                  <a:schemeClr val="tx2"/>
                </a:solidFill>
              </a:rPr>
              <a:t>: To develop a machine learning tool that performs Regression Analysis to predict the fair market value of procurement contracts in UGX.  </a:t>
            </a:r>
          </a:p>
          <a:p>
            <a:pPr marL="400050" indent="-400050">
              <a:lnSpc>
                <a:spcPct val="150000"/>
              </a:lnSpc>
              <a:buFont typeface="+mj-lt"/>
              <a:buAutoNum type="romanLcPeriod"/>
            </a:pPr>
            <a:r>
              <a:rPr lang="en-US" sz="1500" b="1" dirty="0">
                <a:solidFill>
                  <a:schemeClr val="tx2"/>
                </a:solidFill>
              </a:rPr>
              <a:t>      Objective: </a:t>
            </a:r>
            <a:r>
              <a:rPr lang="en-US" sz="1500" dirty="0">
                <a:solidFill>
                  <a:schemeClr val="tx2"/>
                </a:solidFill>
              </a:rPr>
              <a:t>To create a "Fair Market Price" estimator that        serves as a baseline for government auditors.  </a:t>
            </a:r>
          </a:p>
          <a:p>
            <a:pPr marL="400050" indent="-400050">
              <a:lnSpc>
                <a:spcPct val="150000"/>
              </a:lnSpc>
              <a:buFont typeface="+mj-lt"/>
              <a:buAutoNum type="romanLcPeriod"/>
            </a:pPr>
            <a:r>
              <a:rPr lang="en-US" sz="1500" b="1" dirty="0">
                <a:solidFill>
                  <a:schemeClr val="tx2"/>
                </a:solidFill>
              </a:rPr>
              <a:t>The Solution: </a:t>
            </a:r>
            <a:r>
              <a:rPr lang="en-US" sz="1500" dirty="0">
                <a:solidFill>
                  <a:schemeClr val="tx2"/>
                </a:solidFill>
              </a:rPr>
              <a:t>An automated "Red Flag" system where any bid significantly higher than the model’s prediction is marked for immediate investigation, enhancing financial transparency.</a:t>
            </a:r>
          </a:p>
        </p:txBody>
      </p:sp>
      <p:grpSp>
        <p:nvGrpSpPr>
          <p:cNvPr id="32" name="Group 31">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27" name="Freeform: Shape 26">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71351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A60E3F-769C-18C9-A2C3-2AA9BBDD2FF1}"/>
              </a:ext>
            </a:extLst>
          </p:cNvPr>
          <p:cNvSpPr>
            <a:spLocks noGrp="1"/>
          </p:cNvSpPr>
          <p:nvPr>
            <p:ph type="title"/>
          </p:nvPr>
        </p:nvSpPr>
        <p:spPr>
          <a:xfrm>
            <a:off x="838200" y="365125"/>
            <a:ext cx="5558489" cy="1325563"/>
          </a:xfrm>
        </p:spPr>
        <p:txBody>
          <a:bodyPr>
            <a:normAutofit/>
          </a:bodyPr>
          <a:lstStyle/>
          <a:p>
            <a:r>
              <a:rPr lang="en-US"/>
              <a:t>Data Definition</a:t>
            </a:r>
          </a:p>
        </p:txBody>
      </p:sp>
      <p:sp>
        <p:nvSpPr>
          <p:cNvPr id="46" name="Freeform: Shape 45">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Content Placeholder 2">
            <a:extLst>
              <a:ext uri="{FF2B5EF4-FFF2-40B4-BE49-F238E27FC236}">
                <a16:creationId xmlns:a16="http://schemas.microsoft.com/office/drawing/2014/main" id="{AAC96A30-5EDF-8C98-1E0B-AC33F49F050D}"/>
              </a:ext>
            </a:extLst>
          </p:cNvPr>
          <p:cNvSpPr>
            <a:spLocks noGrp="1"/>
          </p:cNvSpPr>
          <p:nvPr>
            <p:ph idx="1"/>
          </p:nvPr>
        </p:nvSpPr>
        <p:spPr>
          <a:xfrm>
            <a:off x="838200" y="1825625"/>
            <a:ext cx="5558489" cy="4351338"/>
          </a:xfrm>
        </p:spPr>
        <p:txBody>
          <a:bodyPr>
            <a:normAutofit/>
          </a:bodyPr>
          <a:lstStyle/>
          <a:p>
            <a:r>
              <a:rPr lang="en-US" sz="1500" b="1"/>
              <a:t>Dataset Identity: </a:t>
            </a:r>
            <a:r>
              <a:rPr lang="en-US" sz="1500"/>
              <a:t>The project uses localized financial data from the Uganda Public Procurement and Disposal of Public Assets (PPDA). </a:t>
            </a:r>
          </a:p>
          <a:p>
            <a:r>
              <a:rPr lang="en-US" sz="1500"/>
              <a:t> Volume: It contains 1,100 unique samples, meeting the university requirement of $\ge1000$ rows</a:t>
            </a:r>
          </a:p>
          <a:p>
            <a:r>
              <a:rPr lang="en-US" sz="1500" b="1"/>
              <a:t>  Data Characteristics:</a:t>
            </a:r>
          </a:p>
          <a:p>
            <a:pPr marL="0" indent="0">
              <a:buNone/>
            </a:pPr>
            <a:r>
              <a:rPr lang="en-US" sz="1500"/>
              <a:t> Target Variable (Label): Contract Value (UGX)—the continuous numerical amount we want to predict. </a:t>
            </a:r>
          </a:p>
          <a:p>
            <a:pPr marL="0" indent="0">
              <a:buNone/>
            </a:pPr>
            <a:r>
              <a:rPr lang="en-US" sz="1500"/>
              <a:t> </a:t>
            </a:r>
            <a:r>
              <a:rPr lang="en-US" sz="1500" b="1"/>
              <a:t>Features (Predictors): </a:t>
            </a:r>
            <a:r>
              <a:rPr lang="en-US" sz="1500"/>
              <a:t>Entity (Government body), Category (Works vs. Supplies), Region (Location), and Bids (Number of applicants).</a:t>
            </a:r>
          </a:p>
          <a:p>
            <a:pPr marL="0" indent="0">
              <a:buNone/>
            </a:pPr>
            <a:r>
              <a:rPr lang="en-US" sz="1500"/>
              <a:t>  </a:t>
            </a:r>
            <a:r>
              <a:rPr lang="en-US" sz="1500" b="1"/>
              <a:t>Uniqueness: </a:t>
            </a:r>
            <a:r>
              <a:rPr lang="en-US" sz="1500"/>
              <a:t>This data features specific records from organizations like UNRA and the Ministry of Health, making it an original project that hasn't been used in standard online tutorials.</a:t>
            </a:r>
          </a:p>
        </p:txBody>
      </p:sp>
      <p:sp>
        <p:nvSpPr>
          <p:cNvPr id="48" name="Oval 47">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Block Arc 49">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eeform: Shape 42">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45" name="Straight Connector 44">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9" name="Arc 48">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 name="Freeform: Shape 50">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2360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F90DA4-0856-79EA-97C1-BC3CB78A218F}"/>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Data Exploration &amp; Visualization</a:t>
            </a:r>
          </a:p>
        </p:txBody>
      </p:sp>
      <p:sp>
        <p:nvSpPr>
          <p:cNvPr id="6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864BFFF-0E52-9C9E-B908-5606BC397BC2}"/>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1"/>
              <a:t>Univariate Visualization:  </a:t>
            </a:r>
            <a:r>
              <a:rPr lang="en-US" sz="2200"/>
              <a:t> analyze single variables, such as a histogram of "Contract Values," to understand the distribution and identify outliers.</a:t>
            </a:r>
          </a:p>
        </p:txBody>
      </p:sp>
      <p:pic>
        <p:nvPicPr>
          <p:cNvPr id="7" name="Content Placeholder 6">
            <a:extLst>
              <a:ext uri="{FF2B5EF4-FFF2-40B4-BE49-F238E27FC236}">
                <a16:creationId xmlns:a16="http://schemas.microsoft.com/office/drawing/2014/main" id="{54B4C902-C1A4-427B-3E2F-290281115B2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8964"/>
          <a:stretch>
            <a:fillRect/>
          </a:stretch>
        </p:blipFill>
        <p:spPr>
          <a:xfrm>
            <a:off x="4922556" y="640080"/>
            <a:ext cx="6367199" cy="5577840"/>
          </a:xfrm>
          <a:prstGeom prst="rect">
            <a:avLst/>
          </a:prstGeom>
        </p:spPr>
      </p:pic>
    </p:spTree>
    <p:extLst>
      <p:ext uri="{BB962C8B-B14F-4D97-AF65-F5344CB8AC3E}">
        <p14:creationId xmlns:p14="http://schemas.microsoft.com/office/powerpoint/2010/main" val="4066572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1AD23EB-9B5D-1088-8B03-719365026F26}"/>
              </a:ext>
            </a:extLst>
          </p:cNvPr>
          <p:cNvSpPr>
            <a:spLocks noGrp="1"/>
          </p:cNvSpPr>
          <p:nvPr>
            <p:ph type="title"/>
          </p:nvPr>
        </p:nvSpPr>
        <p:spPr>
          <a:xfrm>
            <a:off x="660042" y="891652"/>
            <a:ext cx="4412021" cy="3030724"/>
          </a:xfrm>
        </p:spPr>
        <p:txBody>
          <a:bodyPr vert="horz" lIns="91440" tIns="45720" rIns="91440" bIns="45720" rtlCol="0" anchor="b">
            <a:normAutofit/>
          </a:bodyPr>
          <a:lstStyle/>
          <a:p>
            <a:pPr algn="r"/>
            <a:r>
              <a:rPr lang="en-US" sz="4000" kern="1200">
                <a:solidFill>
                  <a:srgbClr val="FFFFFF"/>
                </a:solidFill>
                <a:latin typeface="+mj-lt"/>
                <a:ea typeface="+mj-ea"/>
                <a:cs typeface="+mj-cs"/>
              </a:rPr>
              <a:t>Univariate-Procurement Method </a:t>
            </a:r>
          </a:p>
        </p:txBody>
      </p:sp>
      <p:pic>
        <p:nvPicPr>
          <p:cNvPr id="5" name="Content Placeholder 4">
            <a:extLst>
              <a:ext uri="{FF2B5EF4-FFF2-40B4-BE49-F238E27FC236}">
                <a16:creationId xmlns:a16="http://schemas.microsoft.com/office/drawing/2014/main" id="{D8D39CBE-F828-8287-C914-179E0421D9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609625"/>
            <a:ext cx="5608320" cy="5594299"/>
          </a:xfrm>
          <a:prstGeom prst="rect">
            <a:avLst/>
          </a:prstGeom>
        </p:spPr>
      </p:pic>
    </p:spTree>
    <p:extLst>
      <p:ext uri="{BB962C8B-B14F-4D97-AF65-F5344CB8AC3E}">
        <p14:creationId xmlns:p14="http://schemas.microsoft.com/office/powerpoint/2010/main" val="3780142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B83AB6-46DD-F4B1-BF4C-7A665FE5504F}"/>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a:solidFill>
                  <a:schemeClr val="tx2"/>
                </a:solidFill>
                <a:latin typeface="+mj-lt"/>
                <a:ea typeface="+mj-ea"/>
                <a:cs typeface="+mj-cs"/>
              </a:rPr>
              <a:t>Multivariate Visualization:</a:t>
            </a:r>
          </a:p>
        </p:txBody>
      </p:sp>
      <p:sp>
        <p:nvSpPr>
          <p:cNvPr id="7" name="TextBox 6">
            <a:extLst>
              <a:ext uri="{FF2B5EF4-FFF2-40B4-BE49-F238E27FC236}">
                <a16:creationId xmlns:a16="http://schemas.microsoft.com/office/drawing/2014/main" id="{331BB5D1-FEB3-36F7-6A42-6E15FDED251F}"/>
              </a:ext>
            </a:extLst>
          </p:cNvPr>
          <p:cNvSpPr txBox="1"/>
          <p:nvPr/>
        </p:nvSpPr>
        <p:spPr>
          <a:xfrm>
            <a:off x="804672" y="2421683"/>
            <a:ext cx="4765949" cy="3353476"/>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a:solidFill>
                  <a:schemeClr val="tx2"/>
                </a:solidFill>
              </a:rPr>
              <a:t>You examine relationships, such as a boxplot comparing "Contract Value" against different "Regions" or "Categories"</a:t>
            </a:r>
          </a:p>
        </p:txBody>
      </p:sp>
      <p:grpSp>
        <p:nvGrpSpPr>
          <p:cNvPr id="63" name="Group 62">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56" name="Freeform: Shape 5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Shape 5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a:extLst>
              <a:ext uri="{FF2B5EF4-FFF2-40B4-BE49-F238E27FC236}">
                <a16:creationId xmlns:a16="http://schemas.microsoft.com/office/drawing/2014/main" id="{5F29A564-176B-8B73-D846-9A01BB0642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08392" y="2189765"/>
            <a:ext cx="4142232" cy="3402013"/>
          </a:xfrm>
          <a:prstGeom prst="rect">
            <a:avLst/>
          </a:prstGeom>
        </p:spPr>
      </p:pic>
    </p:spTree>
    <p:extLst>
      <p:ext uri="{BB962C8B-B14F-4D97-AF65-F5344CB8AC3E}">
        <p14:creationId xmlns:p14="http://schemas.microsoft.com/office/powerpoint/2010/main" val="952784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4B1E97B-DA15-613B-61BD-69C413A76126}"/>
              </a:ext>
            </a:extLst>
          </p:cNvPr>
          <p:cNvSpPr>
            <a:spLocks noGrp="1"/>
          </p:cNvSpPr>
          <p:nvPr>
            <p:ph type="title"/>
          </p:nvPr>
        </p:nvSpPr>
        <p:spPr>
          <a:xfrm>
            <a:off x="1137034" y="609600"/>
            <a:ext cx="4784796" cy="1330840"/>
          </a:xfrm>
        </p:spPr>
        <p:txBody>
          <a:bodyPr vert="horz" lIns="91440" tIns="45720" rIns="91440" bIns="45720" rtlCol="0" anchor="ctr">
            <a:normAutofit/>
          </a:bodyPr>
          <a:lstStyle/>
          <a:p>
            <a:r>
              <a:rPr lang="en-US" b="1" kern="1200">
                <a:solidFill>
                  <a:schemeClr val="tx1"/>
                </a:solidFill>
                <a:latin typeface="+mj-lt"/>
                <a:ea typeface="+mj-ea"/>
                <a:cs typeface="+mj-cs"/>
              </a:rPr>
              <a:t>Multivariate-Region by value</a:t>
            </a:r>
          </a:p>
        </p:txBody>
      </p:sp>
      <p:sp>
        <p:nvSpPr>
          <p:cNvPr id="7" name="TextBox 6">
            <a:extLst>
              <a:ext uri="{FF2B5EF4-FFF2-40B4-BE49-F238E27FC236}">
                <a16:creationId xmlns:a16="http://schemas.microsoft.com/office/drawing/2014/main" id="{B1161023-F86E-95FB-E3D7-C64BFC2EC86F}"/>
              </a:ext>
            </a:extLst>
          </p:cNvPr>
          <p:cNvSpPr txBox="1"/>
          <p:nvPr/>
        </p:nvSpPr>
        <p:spPr>
          <a:xfrm>
            <a:off x="1137034" y="2194102"/>
            <a:ext cx="4438036" cy="3908585"/>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b="1"/>
              <a:t>Interpretation: </a:t>
            </a:r>
            <a:r>
              <a:rPr lang="en-US" sz="2000"/>
              <a:t>These graphs demonstrate the data patterns, such as which regions consistently have the highest-valued projects, before the machine learning begins.</a:t>
            </a:r>
          </a:p>
        </p:txBody>
      </p:sp>
      <p:pic>
        <p:nvPicPr>
          <p:cNvPr id="5" name="Content Placeholder 4">
            <a:extLst>
              <a:ext uri="{FF2B5EF4-FFF2-40B4-BE49-F238E27FC236}">
                <a16:creationId xmlns:a16="http://schemas.microsoft.com/office/drawing/2014/main" id="{D6314925-0C0F-1F07-3D8A-AA75E7F67F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80610" y="1325931"/>
            <a:ext cx="4737650" cy="4228352"/>
          </a:xfrm>
          <a:prstGeom prst="rect">
            <a:avLst/>
          </a:prstGeom>
        </p:spPr>
      </p:pic>
    </p:spTree>
    <p:extLst>
      <p:ext uri="{BB962C8B-B14F-4D97-AF65-F5344CB8AC3E}">
        <p14:creationId xmlns:p14="http://schemas.microsoft.com/office/powerpoint/2010/main" val="2938910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537EC-048A-3B4B-5E9A-4FBA88931F09}"/>
              </a:ext>
            </a:extLst>
          </p:cNvPr>
          <p:cNvSpPr>
            <a:spLocks noGrp="1"/>
          </p:cNvSpPr>
          <p:nvPr>
            <p:ph type="title"/>
          </p:nvPr>
        </p:nvSpPr>
        <p:spPr>
          <a:xfrm>
            <a:off x="762000" y="1138036"/>
            <a:ext cx="4085665" cy="1402470"/>
          </a:xfrm>
        </p:spPr>
        <p:txBody>
          <a:bodyPr anchor="t">
            <a:normAutofit/>
          </a:bodyPr>
          <a:lstStyle/>
          <a:p>
            <a:r>
              <a:rPr lang="en-US" sz="3200" b="1"/>
              <a:t>Methodology &amp; Neural Network Logic</a:t>
            </a:r>
          </a:p>
        </p:txBody>
      </p:sp>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721CF9A-F646-FAB9-4545-94FD948828B1}"/>
              </a:ext>
            </a:extLst>
          </p:cNvPr>
          <p:cNvSpPr>
            <a:spLocks noGrp="1"/>
          </p:cNvSpPr>
          <p:nvPr>
            <p:ph idx="1"/>
          </p:nvPr>
        </p:nvSpPr>
        <p:spPr>
          <a:xfrm>
            <a:off x="762000" y="2551176"/>
            <a:ext cx="4085665" cy="3591207"/>
          </a:xfrm>
        </p:spPr>
        <p:txBody>
          <a:bodyPr>
            <a:normAutofit/>
          </a:bodyPr>
          <a:lstStyle/>
          <a:p>
            <a:pPr marL="0" indent="0">
              <a:buNone/>
            </a:pPr>
            <a:r>
              <a:rPr lang="en-US" sz="1600" b="1"/>
              <a:t>Model Comparison:  Classical ML by Deep Learning </a:t>
            </a:r>
          </a:p>
          <a:p>
            <a:pPr marL="0" indent="0">
              <a:buNone/>
            </a:pPr>
            <a:r>
              <a:rPr lang="en-US" sz="1600" b="1"/>
              <a:t>Random Forest Regressor (Classical ML):</a:t>
            </a:r>
            <a:r>
              <a:rPr lang="en-US" sz="1600"/>
              <a:t>  This model acts as an ensemble of many "Decision Trees." It is highly effective for structured data because it averages the results of multiple trees to provide a stable baseline prediction for contract values. </a:t>
            </a:r>
          </a:p>
          <a:p>
            <a:pPr marL="0" indent="0">
              <a:buNone/>
            </a:pPr>
            <a:r>
              <a:rPr lang="en-US" sz="1600"/>
              <a:t> </a:t>
            </a:r>
            <a:r>
              <a:rPr lang="en-US" sz="1600" b="1"/>
              <a:t>Artificial Neural Network (ANN):</a:t>
            </a:r>
            <a:r>
              <a:rPr lang="en-US" sz="1600"/>
              <a:t> This is a deep learning model inspired by the human brain. It uses layers of interconnected "neurons" to find complex, non-linear patterns in the procurement data that a standard model might miss. </a:t>
            </a:r>
          </a:p>
        </p:txBody>
      </p:sp>
      <p:pic>
        <p:nvPicPr>
          <p:cNvPr id="5" name="Picture 4">
            <a:extLst>
              <a:ext uri="{FF2B5EF4-FFF2-40B4-BE49-F238E27FC236}">
                <a16:creationId xmlns:a16="http://schemas.microsoft.com/office/drawing/2014/main" id="{A7CB597B-74AD-BDA7-0FFF-8C316686ED3E}"/>
              </a:ext>
            </a:extLst>
          </p:cNvPr>
          <p:cNvPicPr>
            <a:picLocks noChangeAspect="1"/>
          </p:cNvPicPr>
          <p:nvPr/>
        </p:nvPicPr>
        <p:blipFill>
          <a:blip r:embed="rId2"/>
          <a:srcRect l="19366" r="23408"/>
          <a:stretch>
            <a:fillRect/>
          </a:stretch>
        </p:blipFill>
        <p:spPr>
          <a:xfrm>
            <a:off x="5650992" y="10"/>
            <a:ext cx="6541008" cy="6857990"/>
          </a:xfrm>
          <a:prstGeom prst="rect">
            <a:avLst/>
          </a:prstGeom>
        </p:spPr>
      </p:pic>
    </p:spTree>
    <p:extLst>
      <p:ext uri="{BB962C8B-B14F-4D97-AF65-F5344CB8AC3E}">
        <p14:creationId xmlns:p14="http://schemas.microsoft.com/office/powerpoint/2010/main" val="10107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E780209-2819-2A92-8D2E-4282D1195345}"/>
              </a:ext>
            </a:extLst>
          </p:cNvPr>
          <p:cNvSpPr>
            <a:spLocks noGrp="1"/>
          </p:cNvSpPr>
          <p:nvPr>
            <p:ph type="title"/>
          </p:nvPr>
        </p:nvSpPr>
        <p:spPr>
          <a:xfrm>
            <a:off x="621792" y="1161288"/>
            <a:ext cx="3602736" cy="4526280"/>
          </a:xfrm>
        </p:spPr>
        <p:txBody>
          <a:bodyPr>
            <a:normAutofit/>
          </a:bodyPr>
          <a:lstStyle/>
          <a:p>
            <a:r>
              <a:rPr lang="en-US" sz="4000"/>
              <a:t>Cont…</a:t>
            </a:r>
          </a:p>
        </p:txBody>
      </p:sp>
      <p:sp>
        <p:nvSpPr>
          <p:cNvPr id="18" name="Rectangle 17">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D6C88CD-47E1-E09D-041B-7FE515EDDB99}"/>
              </a:ext>
            </a:extLst>
          </p:cNvPr>
          <p:cNvSpPr>
            <a:spLocks noGrp="1"/>
          </p:cNvSpPr>
          <p:nvPr>
            <p:ph idx="1"/>
          </p:nvPr>
        </p:nvSpPr>
        <p:spPr>
          <a:xfrm>
            <a:off x="5434149" y="932688"/>
            <a:ext cx="5916603" cy="4992624"/>
          </a:xfrm>
        </p:spPr>
        <p:txBody>
          <a:bodyPr anchor="ctr">
            <a:normAutofit/>
          </a:bodyPr>
          <a:lstStyle/>
          <a:p>
            <a:pPr marL="0" indent="0">
              <a:buNone/>
            </a:pPr>
            <a:r>
              <a:rPr lang="en-US" sz="2000" b="1"/>
              <a:t>Deep Dive: </a:t>
            </a:r>
            <a:r>
              <a:rPr lang="en-US" sz="2000"/>
              <a:t>The Cost Function (The "U-Shaped Bowl")The Cost Function is the mathematical tool used to measure how "wrong" the model's predictions are compared to the actual historical contract values. </a:t>
            </a:r>
          </a:p>
          <a:p>
            <a:pPr marL="0" indent="0">
              <a:buNone/>
            </a:pPr>
            <a:r>
              <a:rPr lang="en-US" sz="2000" b="1"/>
              <a:t> Visualizing the Error: </a:t>
            </a:r>
            <a:r>
              <a:rPr lang="en-US" sz="2000"/>
              <a:t>In your slides, this is represented as a convex, U-shaped curve. The vertical axis (height) represents the total error (Loss), and the horizontal axis represents the model's internal weights. </a:t>
            </a:r>
          </a:p>
          <a:p>
            <a:pPr marL="0" indent="0">
              <a:buNone/>
            </a:pPr>
            <a:r>
              <a:rPr lang="en-US" sz="2000" b="1"/>
              <a:t> The Starting Point: </a:t>
            </a:r>
            <a:r>
              <a:rPr lang="en-US" sz="2000"/>
              <a:t>When training begins, the model’s weights are random, meaning the error is high. This is like placing a ball at the very top rim of the bowl.</a:t>
            </a:r>
          </a:p>
        </p:txBody>
      </p:sp>
    </p:spTree>
    <p:extLst>
      <p:ext uri="{BB962C8B-B14F-4D97-AF65-F5344CB8AC3E}">
        <p14:creationId xmlns:p14="http://schemas.microsoft.com/office/powerpoint/2010/main" val="1757812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F75AD06-DFC4-4B3A-8490-330823D0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C587C93-0840-40DF-96D5-D1F2137E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014D707B-D8EA-08A3-B4CF-1EF438EF684D}"/>
              </a:ext>
            </a:extLst>
          </p:cNvPr>
          <p:cNvSpPr>
            <a:spLocks noGrp="1"/>
          </p:cNvSpPr>
          <p:nvPr>
            <p:ph type="title"/>
          </p:nvPr>
        </p:nvSpPr>
        <p:spPr>
          <a:xfrm>
            <a:off x="804672" y="1401859"/>
            <a:ext cx="4130185" cy="4054282"/>
          </a:xfrm>
        </p:spPr>
        <p:txBody>
          <a:bodyPr>
            <a:normAutofit/>
          </a:bodyPr>
          <a:lstStyle/>
          <a:p>
            <a:r>
              <a:rPr lang="en-US" sz="3600">
                <a:solidFill>
                  <a:schemeClr val="tx2"/>
                </a:solidFill>
              </a:rPr>
              <a:t>cont….</a:t>
            </a:r>
          </a:p>
        </p:txBody>
      </p:sp>
      <p:grpSp>
        <p:nvGrpSpPr>
          <p:cNvPr id="25" name="Group 24">
            <a:extLst>
              <a:ext uri="{FF2B5EF4-FFF2-40B4-BE49-F238E27FC236}">
                <a16:creationId xmlns:a16="http://schemas.microsoft.com/office/drawing/2014/main" id="{5E02D55A-F529-4B19-BAF9-F63240A7B4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26" name="Freeform: Shape 25">
              <a:extLst>
                <a:ext uri="{FF2B5EF4-FFF2-40B4-BE49-F238E27FC236}">
                  <a16:creationId xmlns:a16="http://schemas.microsoft.com/office/drawing/2014/main" id="{60367E3C-3947-493D-9458-5955DB20A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1E8D9785-21DB-4CE6-B138-2999AD61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43AA5AD5-8F29-4165-8112-305DDDDDD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2A4EC0CF-F38F-4D7F-B48D-9A26E814D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67A51B5-B62F-5FAF-0EA2-0C5D800EDB4D}"/>
              </a:ext>
            </a:extLst>
          </p:cNvPr>
          <p:cNvSpPr>
            <a:spLocks noGrp="1"/>
          </p:cNvSpPr>
          <p:nvPr>
            <p:ph idx="1"/>
          </p:nvPr>
        </p:nvSpPr>
        <p:spPr>
          <a:xfrm>
            <a:off x="5257800" y="1553134"/>
            <a:ext cx="6128539" cy="3751732"/>
          </a:xfrm>
        </p:spPr>
        <p:txBody>
          <a:bodyPr anchor="ctr">
            <a:normAutofit/>
          </a:bodyPr>
          <a:lstStyle/>
          <a:p>
            <a:r>
              <a:rPr lang="en-US" sz="1800" b="1">
                <a:solidFill>
                  <a:schemeClr val="tx2"/>
                </a:solidFill>
              </a:rPr>
              <a:t>The Global Minimum: </a:t>
            </a:r>
            <a:r>
              <a:rPr lang="en-US" sz="1800">
                <a:solidFill>
                  <a:schemeClr val="tx2"/>
                </a:solidFill>
              </a:rPr>
              <a:t>The "bottom" of the bowl represents the Global Minimum. This is the exact point where the difference between the predicted price and the actual price is at its absolute lowest. </a:t>
            </a:r>
          </a:p>
          <a:p>
            <a:r>
              <a:rPr lang="en-US" sz="1800" b="1">
                <a:solidFill>
                  <a:schemeClr val="tx2"/>
                </a:solidFill>
              </a:rPr>
              <a:t> The Goal of Training: </a:t>
            </a:r>
            <a:r>
              <a:rPr lang="en-US" sz="1800">
                <a:solidFill>
                  <a:schemeClr val="tx2"/>
                </a:solidFill>
              </a:rPr>
              <a:t>The entire purpose of the "Forward and Backward" pass is to move the model from the high-error rim down to the bottom of the bowl. Once the model reaches this point, it is considered "optimized" and ready to predict fair market prices accurately.</a:t>
            </a:r>
          </a:p>
        </p:txBody>
      </p:sp>
      <p:grpSp>
        <p:nvGrpSpPr>
          <p:cNvPr id="18" name="Group 17">
            <a:extLst>
              <a:ext uri="{FF2B5EF4-FFF2-40B4-BE49-F238E27FC236}">
                <a16:creationId xmlns:a16="http://schemas.microsoft.com/office/drawing/2014/main" id="{47A3A52F-BCB3-444D-9372-EE018B135C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91E32C13-DED6-4967-85B8-68DD77103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8DDA515-BC6A-47FB-951E-E1E79287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97EEFA7-6787-4EC0-8284-6D3D27306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A9621AC-50AB-4B43-896D-78FE571A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14103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AA5BE0F-C952-94EE-8349-E314C8DA3E87}"/>
              </a:ext>
            </a:extLst>
          </p:cNvPr>
          <p:cNvSpPr>
            <a:spLocks noGrp="1"/>
          </p:cNvSpPr>
          <p:nvPr>
            <p:ph type="title"/>
          </p:nvPr>
        </p:nvSpPr>
        <p:spPr>
          <a:xfrm>
            <a:off x="804672" y="2053641"/>
            <a:ext cx="3669161" cy="2760098"/>
          </a:xfrm>
        </p:spPr>
        <p:txBody>
          <a:bodyPr>
            <a:normAutofit/>
          </a:bodyPr>
          <a:lstStyle/>
          <a:p>
            <a:r>
              <a:rPr lang="en-US" sz="4000">
                <a:solidFill>
                  <a:schemeClr val="tx2"/>
                </a:solidFill>
              </a:rPr>
              <a:t>Evaluation &amp; Optimization</a:t>
            </a:r>
          </a:p>
        </p:txBody>
      </p:sp>
      <p:sp>
        <p:nvSpPr>
          <p:cNvPr id="3" name="Content Placeholder 2">
            <a:extLst>
              <a:ext uri="{FF2B5EF4-FFF2-40B4-BE49-F238E27FC236}">
                <a16:creationId xmlns:a16="http://schemas.microsoft.com/office/drawing/2014/main" id="{2495E017-1AEC-BEB8-BABD-B964ABBED061}"/>
              </a:ext>
            </a:extLst>
          </p:cNvPr>
          <p:cNvSpPr>
            <a:spLocks noGrp="1"/>
          </p:cNvSpPr>
          <p:nvPr>
            <p:ph idx="1"/>
          </p:nvPr>
        </p:nvSpPr>
        <p:spPr>
          <a:xfrm>
            <a:off x="6090574" y="801866"/>
            <a:ext cx="5306084" cy="5230634"/>
          </a:xfrm>
          <a:noFill/>
          <a:ln>
            <a:noFill/>
          </a:ln>
        </p:spPr>
        <p:txBody>
          <a:bodyPr anchor="ctr">
            <a:normAutofit/>
          </a:bodyPr>
          <a:lstStyle/>
          <a:p>
            <a:r>
              <a:rPr lang="en-US" sz="1800" b="1">
                <a:solidFill>
                  <a:schemeClr val="tx2"/>
                </a:solidFill>
              </a:rPr>
              <a:t>Definition: </a:t>
            </a:r>
          </a:p>
          <a:p>
            <a:pPr marL="571500" indent="-571500">
              <a:buFont typeface="+mj-lt"/>
              <a:buAutoNum type="romanUcPeriod"/>
            </a:pPr>
            <a:r>
              <a:rPr lang="en-US" sz="1800">
                <a:solidFill>
                  <a:schemeClr val="tx2"/>
                </a:solidFill>
              </a:rPr>
              <a:t>MAE calculates the average difference between the model's predicted price and the actual historical price recorded in the PPDA dataset.  </a:t>
            </a:r>
          </a:p>
          <a:p>
            <a:pPr marL="571500" indent="-571500">
              <a:buFont typeface="+mj-lt"/>
              <a:buAutoNum type="romanUcPeriod"/>
            </a:pPr>
            <a:r>
              <a:rPr lang="en-US" sz="1800" b="1">
                <a:solidFill>
                  <a:schemeClr val="tx2"/>
                </a:solidFill>
              </a:rPr>
              <a:t>Localized Context: </a:t>
            </a:r>
            <a:r>
              <a:rPr lang="en-US" sz="1800">
                <a:solidFill>
                  <a:schemeClr val="tx2"/>
                </a:solidFill>
              </a:rPr>
              <a:t>Because the target variable is measured in Ugandan Shillings (UGX), the MAE provides a specific "error margin" in the same currency. </a:t>
            </a:r>
          </a:p>
          <a:p>
            <a:pPr marL="571500" indent="-571500">
              <a:buFont typeface="+mj-lt"/>
              <a:buAutoNum type="romanUcPeriod"/>
            </a:pPr>
            <a:r>
              <a:rPr lang="en-US" sz="1800" b="1">
                <a:solidFill>
                  <a:schemeClr val="tx2"/>
                </a:solidFill>
              </a:rPr>
              <a:t> Operational Goal: </a:t>
            </a:r>
            <a:r>
              <a:rPr lang="en-US" sz="1800">
                <a:solidFill>
                  <a:schemeClr val="tx2"/>
                </a:solidFill>
              </a:rPr>
              <a:t>This metric is vital for financial oversight. For instance, if your model has an MAE of 1,000,000 UGX, an auditor knows that a bid exceeding the prediction by 50,000,000 UGX is a statistical "Red Flag" that requires investigation for potential over-spending.</a:t>
            </a:r>
          </a:p>
        </p:txBody>
      </p:sp>
    </p:spTree>
    <p:extLst>
      <p:ext uri="{BB962C8B-B14F-4D97-AF65-F5344CB8AC3E}">
        <p14:creationId xmlns:p14="http://schemas.microsoft.com/office/powerpoint/2010/main" val="3087061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69A79E9D-EE1D-79D9-15B1-118EC02F450B}"/>
              </a:ext>
            </a:extLst>
          </p:cNvPr>
          <p:cNvSpPr>
            <a:spLocks noGrp="1"/>
          </p:cNvSpPr>
          <p:nvPr>
            <p:ph type="title"/>
          </p:nvPr>
        </p:nvSpPr>
        <p:spPr>
          <a:xfrm>
            <a:off x="804672" y="1243013"/>
            <a:ext cx="3855720" cy="4371974"/>
          </a:xfrm>
        </p:spPr>
        <p:txBody>
          <a:bodyPr>
            <a:normAutofit/>
          </a:bodyPr>
          <a:lstStyle/>
          <a:p>
            <a:r>
              <a:rPr lang="en-US" sz="3600">
                <a:solidFill>
                  <a:schemeClr val="tx2"/>
                </a:solidFill>
              </a:rPr>
              <a:t>Cont…</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BB43AD1B-48B6-067F-D924-05D4361A344C}"/>
              </a:ext>
            </a:extLst>
          </p:cNvPr>
          <p:cNvSpPr>
            <a:spLocks noGrp="1"/>
          </p:cNvSpPr>
          <p:nvPr>
            <p:ph idx="1"/>
          </p:nvPr>
        </p:nvSpPr>
        <p:spPr>
          <a:xfrm>
            <a:off x="6632812" y="1032987"/>
            <a:ext cx="4919108" cy="4792027"/>
          </a:xfrm>
        </p:spPr>
        <p:txBody>
          <a:bodyPr anchor="ctr">
            <a:normAutofit/>
          </a:bodyPr>
          <a:lstStyle/>
          <a:p>
            <a:r>
              <a:rPr lang="en-US" sz="1600" b="1">
                <a:solidFill>
                  <a:schemeClr val="tx2"/>
                </a:solidFill>
              </a:rPr>
              <a:t>2. Avoiding Overfitting: </a:t>
            </a:r>
            <a:r>
              <a:rPr lang="en-US" sz="1600">
                <a:solidFill>
                  <a:schemeClr val="tx2"/>
                </a:solidFill>
              </a:rPr>
              <a:t>Training and Validation Loss</a:t>
            </a:r>
          </a:p>
          <a:p>
            <a:r>
              <a:rPr lang="en-US" sz="1600">
                <a:solidFill>
                  <a:schemeClr val="tx2"/>
                </a:solidFill>
              </a:rPr>
              <a:t>A major challenge when working with a localized dataset of 1,100 rows is ensuring the model doesn't just "memorize" specific examples, a problem known as </a:t>
            </a:r>
            <a:r>
              <a:rPr lang="en-US" sz="1600" b="1">
                <a:solidFill>
                  <a:schemeClr val="tx2"/>
                </a:solidFill>
              </a:rPr>
              <a:t>Overfitting.  </a:t>
            </a:r>
          </a:p>
          <a:p>
            <a:r>
              <a:rPr lang="en-US" sz="1600" b="1">
                <a:solidFill>
                  <a:schemeClr val="tx2"/>
                </a:solidFill>
              </a:rPr>
              <a:t>The Loss Graph: </a:t>
            </a:r>
            <a:r>
              <a:rPr lang="en-US" sz="1600">
                <a:solidFill>
                  <a:schemeClr val="tx2"/>
                </a:solidFill>
              </a:rPr>
              <a:t>You monitor a visualization with two lines: Training Loss (error on data the model is learning from) and Validation Loss (error on "new" data the model hasn't seen).  </a:t>
            </a:r>
          </a:p>
          <a:p>
            <a:r>
              <a:rPr lang="en-US" sz="1600" b="1">
                <a:solidFill>
                  <a:schemeClr val="tx2"/>
                </a:solidFill>
              </a:rPr>
              <a:t>Detecting Memorization: </a:t>
            </a:r>
            <a:r>
              <a:rPr lang="en-US" sz="1600">
                <a:solidFill>
                  <a:schemeClr val="tx2"/>
                </a:solidFill>
              </a:rPr>
              <a:t>If the Training Loss continues to drop while the Validation Loss starts to rise, it proves the model is losing its ability to generalize.</a:t>
            </a:r>
          </a:p>
          <a:p>
            <a:r>
              <a:rPr lang="en-US" sz="1600" b="1">
                <a:solidFill>
                  <a:schemeClr val="tx2"/>
                </a:solidFill>
              </a:rPr>
              <a:t>  Model Health: </a:t>
            </a:r>
            <a:r>
              <a:rPr lang="en-US" sz="1600">
                <a:solidFill>
                  <a:schemeClr val="tx2"/>
                </a:solidFill>
              </a:rPr>
              <a:t>By keeping these two lines close together, you prove to the examiners that your model can accurately predict contract values for government entities it wasn't specifically trained on.</a:t>
            </a:r>
          </a:p>
        </p:txBody>
      </p:sp>
    </p:spTree>
    <p:extLst>
      <p:ext uri="{BB962C8B-B14F-4D97-AF65-F5344CB8AC3E}">
        <p14:creationId xmlns:p14="http://schemas.microsoft.com/office/powerpoint/2010/main" val="2662153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EBFA723-5A7B-472D-ABD7-1526B8D3A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33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6B27065-399A-4CF7-BF70-CF79B9848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33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CF22986C-DDF7-4109-9D6A-006800D6B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6" y="52996"/>
            <a:ext cx="6093363" cy="6805005"/>
            <a:chOff x="6095999" y="52996"/>
            <a:chExt cx="6093363" cy="6805005"/>
          </a:xfrm>
          <a:solidFill>
            <a:schemeClr val="accent5">
              <a:alpha val="10000"/>
            </a:schemeClr>
          </a:solidFill>
        </p:grpSpPr>
        <p:sp>
          <p:nvSpPr>
            <p:cNvPr id="38" name="Freeform: Shape 37">
              <a:extLst>
                <a:ext uri="{FF2B5EF4-FFF2-40B4-BE49-F238E27FC236}">
                  <a16:creationId xmlns:a16="http://schemas.microsoft.com/office/drawing/2014/main" id="{4C025298-F835-4B83-A3A3-6555157E0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17106C81-A3F0-4DA0-9368-6BBCDB964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4B3B35E8-1AF4-4D76-93A5-B0B088408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8BC90D0C-1CD0-0CCC-C1F2-27FAF18A1052}"/>
              </a:ext>
            </a:extLst>
          </p:cNvPr>
          <p:cNvSpPr>
            <a:spLocks noGrp="1"/>
          </p:cNvSpPr>
          <p:nvPr>
            <p:ph type="title"/>
          </p:nvPr>
        </p:nvSpPr>
        <p:spPr>
          <a:xfrm>
            <a:off x="804672" y="3121701"/>
            <a:ext cx="3658053" cy="1786515"/>
          </a:xfrm>
        </p:spPr>
        <p:txBody>
          <a:bodyPr vert="horz" lIns="91440" tIns="45720" rIns="91440" bIns="45720" rtlCol="0" anchor="t">
            <a:normAutofit/>
          </a:bodyPr>
          <a:lstStyle/>
          <a:p>
            <a:r>
              <a:rPr lang="en-US" sz="3100" kern="1200">
                <a:solidFill>
                  <a:schemeClr val="tx2"/>
                </a:solidFill>
                <a:latin typeface="+mj-lt"/>
                <a:ea typeface="+mj-ea"/>
                <a:cs typeface="+mj-cs"/>
              </a:rPr>
              <a:t>Model Evaluation(Confusion Matrix)</a:t>
            </a:r>
          </a:p>
        </p:txBody>
      </p:sp>
      <p:pic>
        <p:nvPicPr>
          <p:cNvPr id="5" name="Content Placeholder 4">
            <a:extLst>
              <a:ext uri="{FF2B5EF4-FFF2-40B4-BE49-F238E27FC236}">
                <a16:creationId xmlns:a16="http://schemas.microsoft.com/office/drawing/2014/main" id="{A2BCCCAA-F133-79CB-93F2-190FF905A9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79341" y="1168426"/>
            <a:ext cx="5029200" cy="4513384"/>
          </a:xfrm>
          <a:prstGeom prst="rect">
            <a:avLst/>
          </a:prstGeom>
          <a:ln w="9525">
            <a:noFill/>
          </a:ln>
        </p:spPr>
      </p:pic>
    </p:spTree>
    <p:extLst>
      <p:ext uri="{BB962C8B-B14F-4D97-AF65-F5344CB8AC3E}">
        <p14:creationId xmlns:p14="http://schemas.microsoft.com/office/powerpoint/2010/main" val="14689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F12DC-709F-8C71-46CC-9BB1152E9746}"/>
              </a:ext>
            </a:extLst>
          </p:cNvPr>
          <p:cNvSpPr>
            <a:spLocks noGrp="1"/>
          </p:cNvSpPr>
          <p:nvPr>
            <p:ph type="title"/>
          </p:nvPr>
        </p:nvSpPr>
        <p:spPr>
          <a:xfrm>
            <a:off x="762000" y="1138036"/>
            <a:ext cx="4085665" cy="1402470"/>
          </a:xfrm>
        </p:spPr>
        <p:txBody>
          <a:bodyPr anchor="t">
            <a:normAutofit/>
          </a:bodyPr>
          <a:lstStyle/>
          <a:p>
            <a:r>
              <a:rPr lang="en-US" sz="3200" b="1"/>
              <a:t>3. Optimization Technique: </a:t>
            </a:r>
          </a:p>
        </p:txBody>
      </p:sp>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E9F3F6B-9B13-3DD8-EB43-5D623AA8C5B0}"/>
              </a:ext>
            </a:extLst>
          </p:cNvPr>
          <p:cNvSpPr>
            <a:spLocks noGrp="1"/>
          </p:cNvSpPr>
          <p:nvPr>
            <p:ph idx="1"/>
          </p:nvPr>
        </p:nvSpPr>
        <p:spPr>
          <a:xfrm>
            <a:off x="762000" y="2551176"/>
            <a:ext cx="4085665" cy="3591207"/>
          </a:xfrm>
        </p:spPr>
        <p:txBody>
          <a:bodyPr>
            <a:normAutofit/>
          </a:bodyPr>
          <a:lstStyle/>
          <a:p>
            <a:pPr marL="571500" indent="-571500">
              <a:buFont typeface="+mj-lt"/>
              <a:buAutoNum type="romanUcPeriod"/>
            </a:pPr>
            <a:r>
              <a:rPr lang="en-US" sz="800"/>
              <a:t>Early Stopping acts as an automated "quality control" mechanism during the training of your Artificial Neural Network (ANN).  </a:t>
            </a:r>
          </a:p>
          <a:p>
            <a:pPr marL="571500" indent="-571500">
              <a:buFont typeface="+mj-lt"/>
              <a:buAutoNum type="romanUcPeriod"/>
            </a:pPr>
            <a:endParaRPr lang="en-US" sz="800"/>
          </a:p>
          <a:p>
            <a:pPr marL="571500" indent="-571500">
              <a:buFont typeface="+mj-lt"/>
              <a:buAutoNum type="romanUcPeriod"/>
            </a:pPr>
            <a:r>
              <a:rPr lang="en-US" sz="800" b="1"/>
              <a:t>How it Works: </a:t>
            </a:r>
            <a:r>
              <a:rPr lang="en-US" sz="800"/>
              <a:t>As the model trains over several cycles (epochs), the system constantly checks the performance on the validation set.  </a:t>
            </a:r>
          </a:p>
          <a:p>
            <a:pPr marL="571500" indent="-571500">
              <a:buFont typeface="+mj-lt"/>
              <a:buAutoNum type="romanUcPeriod"/>
            </a:pPr>
            <a:endParaRPr lang="en-US" sz="800"/>
          </a:p>
          <a:p>
            <a:pPr marL="571500" indent="-571500">
              <a:buFont typeface="+mj-lt"/>
              <a:buAutoNum type="romanUcPeriod"/>
            </a:pPr>
            <a:r>
              <a:rPr lang="en-US" sz="800" b="1"/>
              <a:t>The Logic</a:t>
            </a:r>
            <a:r>
              <a:rPr lang="en-US" sz="800"/>
              <a:t>: If the validation error stops improving for a set number of rounds, the algorithm assumes the model has reached its peak learning capacity.  </a:t>
            </a:r>
          </a:p>
          <a:p>
            <a:pPr marL="571500" indent="-571500">
              <a:buFont typeface="+mj-lt"/>
              <a:buAutoNum type="romanUcPeriod"/>
            </a:pPr>
            <a:endParaRPr lang="en-US" sz="800"/>
          </a:p>
          <a:p>
            <a:pPr marL="571500" indent="-571500">
              <a:buFont typeface="+mj-lt"/>
              <a:buAutoNum type="romanUcPeriod"/>
            </a:pPr>
            <a:r>
              <a:rPr lang="en-US" sz="800" b="1"/>
              <a:t>The Outcome: </a:t>
            </a:r>
            <a:r>
              <a:rPr lang="en-US" sz="800"/>
              <a:t>The training is automatically terminated, and the system "rolls back" to save the version of the model with the lowest possible validation error.  </a:t>
            </a:r>
          </a:p>
          <a:p>
            <a:pPr marL="571500" indent="-571500">
              <a:buFont typeface="+mj-lt"/>
              <a:buAutoNum type="romanUcPeriod"/>
            </a:pPr>
            <a:endParaRPr lang="en-US" sz="800"/>
          </a:p>
          <a:p>
            <a:pPr marL="571500" indent="-571500">
              <a:buFont typeface="+mj-lt"/>
              <a:buAutoNum type="romanUcPeriod"/>
            </a:pPr>
            <a:r>
              <a:rPr lang="en-US" sz="800" b="1"/>
              <a:t>The Benefit: </a:t>
            </a:r>
            <a:r>
              <a:rPr lang="en-US" sz="800"/>
              <a:t>This ensures your final project demo uses the most optimized version of the model—one that is both highly accurate and robust enough to handle new procurement tenders in Uganda.</a:t>
            </a:r>
          </a:p>
        </p:txBody>
      </p:sp>
      <p:pic>
        <p:nvPicPr>
          <p:cNvPr id="5" name="Picture 4" descr="A 3D pattern of ring shapes connected by lines">
            <a:extLst>
              <a:ext uri="{FF2B5EF4-FFF2-40B4-BE49-F238E27FC236}">
                <a16:creationId xmlns:a16="http://schemas.microsoft.com/office/drawing/2014/main" id="{7F53E16E-1804-9A7F-EE24-E0516B48E2B4}"/>
              </a:ext>
            </a:extLst>
          </p:cNvPr>
          <p:cNvPicPr>
            <a:picLocks noChangeAspect="1"/>
          </p:cNvPicPr>
          <p:nvPr/>
        </p:nvPicPr>
        <p:blipFill>
          <a:blip r:embed="rId2"/>
          <a:srcRect l="6814" r="39536"/>
          <a:stretch>
            <a:fillRect/>
          </a:stretch>
        </p:blipFill>
        <p:spPr>
          <a:xfrm>
            <a:off x="5650992" y="10"/>
            <a:ext cx="6541008" cy="6857990"/>
          </a:xfrm>
          <a:prstGeom prst="rect">
            <a:avLst/>
          </a:prstGeom>
        </p:spPr>
      </p:pic>
    </p:spTree>
    <p:extLst>
      <p:ext uri="{BB962C8B-B14F-4D97-AF65-F5344CB8AC3E}">
        <p14:creationId xmlns:p14="http://schemas.microsoft.com/office/powerpoint/2010/main" val="2208132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83DA7AF-309E-ADA5-67D3-67F166F0F0DF}"/>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Conclusion: Transforming Oversight with Al</a:t>
            </a:r>
          </a:p>
        </p:txBody>
      </p:sp>
      <p:sp>
        <p:nvSpPr>
          <p:cNvPr id="3" name="Content Placeholder 2">
            <a:extLst>
              <a:ext uri="{FF2B5EF4-FFF2-40B4-BE49-F238E27FC236}">
                <a16:creationId xmlns:a16="http://schemas.microsoft.com/office/drawing/2014/main" id="{267A9421-3FC9-DE18-5B9B-E4C87BD101A3}"/>
              </a:ext>
            </a:extLst>
          </p:cNvPr>
          <p:cNvSpPr>
            <a:spLocks noGrp="1"/>
          </p:cNvSpPr>
          <p:nvPr>
            <p:ph idx="1"/>
          </p:nvPr>
        </p:nvSpPr>
        <p:spPr>
          <a:xfrm>
            <a:off x="6172200" y="804672"/>
            <a:ext cx="5221224" cy="5230368"/>
          </a:xfrm>
        </p:spPr>
        <p:txBody>
          <a:bodyPr anchor="ctr">
            <a:normAutofit/>
          </a:bodyPr>
          <a:lstStyle/>
          <a:p>
            <a:pPr marL="571500" indent="-571500">
              <a:buFont typeface="+mj-lt"/>
              <a:buAutoNum type="romanLcPeriod"/>
            </a:pPr>
            <a:r>
              <a:rPr lang="en-US" sz="1400">
                <a:solidFill>
                  <a:schemeClr val="tx2"/>
                </a:solidFill>
              </a:rPr>
              <a:t>Real-World Impact: This project demonstrates that machine learning can be a powerful ally for transparency in Uganda by providing an automated "Fair Market Price" benchmark for public spending.</a:t>
            </a:r>
          </a:p>
          <a:p>
            <a:pPr marL="571500" indent="-571500">
              <a:buFont typeface="+mj-lt"/>
              <a:buAutoNum type="romanLcPeriod"/>
            </a:pPr>
            <a:endParaRPr lang="en-US" sz="1400">
              <a:solidFill>
                <a:schemeClr val="tx2"/>
              </a:solidFill>
            </a:endParaRPr>
          </a:p>
          <a:p>
            <a:pPr marL="571500" indent="-571500">
              <a:buFont typeface="+mj-lt"/>
              <a:buAutoNum type="romanLcPeriod"/>
            </a:pPr>
            <a:r>
              <a:rPr lang="en-US" sz="1400">
                <a:solidFill>
                  <a:schemeClr val="tx2"/>
                </a:solidFill>
              </a:rPr>
              <a:t>Data-Driven Accountability: By training on 1,100 unique records from the PPDA, the model has moved beyond theoretical exercises to handle the actual complexities of the Ugandan economy, including regional price variations and diverse contract categories.</a:t>
            </a:r>
          </a:p>
          <a:p>
            <a:pPr marL="571500" indent="-571500">
              <a:buFont typeface="+mj-lt"/>
              <a:buAutoNum type="romanLcPeriod"/>
            </a:pPr>
            <a:endParaRPr lang="en-US" sz="1400">
              <a:solidFill>
                <a:schemeClr val="tx2"/>
              </a:solidFill>
            </a:endParaRPr>
          </a:p>
          <a:p>
            <a:pPr marL="571500" indent="-571500">
              <a:buFont typeface="+mj-lt"/>
              <a:buAutoNum type="romanLcPeriod"/>
            </a:pPr>
            <a:r>
              <a:rPr lang="en-US" sz="1400">
                <a:solidFill>
                  <a:schemeClr val="tx2"/>
                </a:solidFill>
              </a:rPr>
              <a:t>Efficiency in Auditing: The implementation of Regression Analysis allows auditors to shift from manual, time-consuming reviews to a "Red Flag" system where only suspicious, high-value bids are flagged for investigation.</a:t>
            </a:r>
          </a:p>
          <a:p>
            <a:pPr marL="571500" indent="-571500">
              <a:buFont typeface="+mj-lt"/>
              <a:buAutoNum type="romanLcPeriod"/>
            </a:pPr>
            <a:endParaRPr lang="en-US" sz="1400">
              <a:solidFill>
                <a:schemeClr val="tx2"/>
              </a:solidFill>
            </a:endParaRPr>
          </a:p>
          <a:p>
            <a:pPr marL="571500" indent="-571500">
              <a:buFont typeface="+mj-lt"/>
              <a:buAutoNum type="romanLcPeriod"/>
            </a:pPr>
            <a:r>
              <a:rPr lang="en-US" sz="1400">
                <a:solidFill>
                  <a:schemeClr val="tx2"/>
                </a:solidFill>
              </a:rPr>
              <a:t>Technical Success: Through rigorous optimization using Early Stopping and MAE, we have developed a model that doesn't just memorize data but understands the underlying patterns of procurement values.</a:t>
            </a:r>
          </a:p>
        </p:txBody>
      </p:sp>
    </p:spTree>
    <p:extLst>
      <p:ext uri="{BB962C8B-B14F-4D97-AF65-F5344CB8AC3E}">
        <p14:creationId xmlns:p14="http://schemas.microsoft.com/office/powerpoint/2010/main" val="463445561"/>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397</TotalTime>
  <Words>1243</Words>
  <Application>Microsoft Office PowerPoint</Application>
  <PresentationFormat>Widescreen</PresentationFormat>
  <Paragraphs>69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Predictive Modeling of Public Procurement Contract Values in Uganda  </vt:lpstr>
      <vt:lpstr>Problem Statement</vt:lpstr>
      <vt:lpstr>: Project Goals &amp; Solution </vt:lpstr>
      <vt:lpstr>Data Definition</vt:lpstr>
      <vt:lpstr>Data Exploration &amp; Visualization</vt:lpstr>
      <vt:lpstr>Univariate-Procurement Method </vt:lpstr>
      <vt:lpstr>Multivariate Visualization:</vt:lpstr>
      <vt:lpstr>Multivariate-Region by value</vt:lpstr>
      <vt:lpstr>Methodology &amp; Neural Network Logic</vt:lpstr>
      <vt:lpstr>Cont…</vt:lpstr>
      <vt:lpstr>cont….</vt:lpstr>
      <vt:lpstr>Evaluation &amp; Optimization</vt:lpstr>
      <vt:lpstr>Cont…</vt:lpstr>
      <vt:lpstr>Model Evaluation(Confusion Matrix)</vt:lpstr>
      <vt:lpstr>3. Optimization Technique: </vt:lpstr>
      <vt:lpstr>Conclusion: Transforming Oversight with 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asmomohamed803@gmail.com</dc:creator>
  <cp:lastModifiedBy>USER</cp:lastModifiedBy>
  <cp:revision>4</cp:revision>
  <dcterms:created xsi:type="dcterms:W3CDTF">2026-04-28T13:07:29Z</dcterms:created>
  <dcterms:modified xsi:type="dcterms:W3CDTF">2026-04-29T16:35:57Z</dcterms:modified>
</cp:coreProperties>
</file>